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obot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regular.fntdata"/><Relationship Id="rId14" Type="http://schemas.openxmlformats.org/officeDocument/2006/relationships/slide" Target="slides/slide9.xml"/><Relationship Id="rId17" Type="http://schemas.openxmlformats.org/officeDocument/2006/relationships/font" Target="fonts/Roboto-italic.fntdata"/><Relationship Id="rId16"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3dfa59cf9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3dfa59cf9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3dfa59cf92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3dfa59cf92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3dfa59cf92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3dfa59cf92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3dfa59cf9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3dfa59cf9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3dfa59cf92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3dfa59cf92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3dfa59cf9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3dfa59cf9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3dfa59cf92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3dfa59cf92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3e617f7494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3e617f7494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Complex Features: Still_Creating</a:t>
            </a:r>
            <a:endParaRPr/>
          </a:p>
        </p:txBody>
      </p:sp>
      <p:sp>
        <p:nvSpPr>
          <p:cNvPr id="86" name="Google Shape;86;p13"/>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Alec Day, Jeremy Ruebush, Alex Berryhill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nvSpPr>
        <p:spPr>
          <a:xfrm>
            <a:off x="255925" y="668100"/>
            <a:ext cx="4260300" cy="226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This feature is the Median income of the county that the convenience store sits in. This will be wildly important for our model for predicting an item that will sell well in similar areas. Using this we can say in a similar </a:t>
            </a:r>
            <a:r>
              <a:rPr lang="en" sz="1200">
                <a:solidFill>
                  <a:schemeClr val="dk2"/>
                </a:solidFill>
              </a:rPr>
              <a:t>neighborhood</a:t>
            </a:r>
            <a:r>
              <a:rPr lang="en" sz="1200">
                <a:solidFill>
                  <a:schemeClr val="dk2"/>
                </a:solidFill>
              </a:rPr>
              <a:t> more people buy certain things. It starts by taking the </a:t>
            </a:r>
            <a:r>
              <a:rPr lang="en" sz="1200">
                <a:solidFill>
                  <a:schemeClr val="dk2"/>
                </a:solidFill>
              </a:rPr>
              <a:t>data frame</a:t>
            </a:r>
            <a:r>
              <a:rPr lang="en" sz="1200">
                <a:solidFill>
                  <a:schemeClr val="dk2"/>
                </a:solidFill>
              </a:rPr>
              <a:t> that holds all of the stores with the </a:t>
            </a:r>
            <a:r>
              <a:rPr lang="en" sz="1200">
                <a:solidFill>
                  <a:schemeClr val="dk2"/>
                </a:solidFill>
              </a:rPr>
              <a:t>latitude</a:t>
            </a:r>
            <a:r>
              <a:rPr lang="en" sz="1200">
                <a:solidFill>
                  <a:schemeClr val="dk2"/>
                </a:solidFill>
              </a:rPr>
              <a:t> and longitude, then I use a </a:t>
            </a:r>
            <a:r>
              <a:rPr lang="en" sz="1200">
                <a:solidFill>
                  <a:schemeClr val="dk2"/>
                </a:solidFill>
              </a:rPr>
              <a:t>Geocoding</a:t>
            </a:r>
            <a:r>
              <a:rPr lang="en" sz="1200">
                <a:solidFill>
                  <a:schemeClr val="dk2"/>
                </a:solidFill>
              </a:rPr>
              <a:t> API to get the county name, but more importantly the fips. Using the FIPS I can get the median income of a specific county using the census API.</a:t>
            </a:r>
            <a:endParaRPr sz="1200">
              <a:solidFill>
                <a:schemeClr val="dk2"/>
              </a:solidFill>
            </a:endParaRPr>
          </a:p>
        </p:txBody>
      </p:sp>
      <p:sp>
        <p:nvSpPr>
          <p:cNvPr id="92" name="Google Shape;92;p14"/>
          <p:cNvSpPr txBox="1"/>
          <p:nvPr>
            <p:ph type="title"/>
          </p:nvPr>
        </p:nvSpPr>
        <p:spPr>
          <a:xfrm>
            <a:off x="255925" y="0"/>
            <a:ext cx="6321600" cy="6681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Median Income in C</a:t>
            </a:r>
            <a:r>
              <a:rPr lang="en">
                <a:solidFill>
                  <a:schemeClr val="lt1"/>
                </a:solidFill>
              </a:rPr>
              <a:t>ounties</a:t>
            </a:r>
            <a:endParaRPr>
              <a:solidFill>
                <a:schemeClr val="lt1"/>
              </a:solidFill>
            </a:endParaRPr>
          </a:p>
        </p:txBody>
      </p:sp>
      <p:pic>
        <p:nvPicPr>
          <p:cNvPr id="93" name="Google Shape;93;p14" title="AlexTable.PNG"/>
          <p:cNvPicPr preferRelativeResize="0"/>
          <p:nvPr/>
        </p:nvPicPr>
        <p:blipFill rotWithShape="1">
          <a:blip r:embed="rId3">
            <a:alphaModFix/>
          </a:blip>
          <a:srcRect b="0" l="0" r="58081" t="0"/>
          <a:stretch/>
        </p:blipFill>
        <p:spPr>
          <a:xfrm>
            <a:off x="311700" y="2850925"/>
            <a:ext cx="3705200" cy="1892250"/>
          </a:xfrm>
          <a:prstGeom prst="rect">
            <a:avLst/>
          </a:prstGeom>
          <a:noFill/>
          <a:ln>
            <a:noFill/>
          </a:ln>
        </p:spPr>
      </p:pic>
      <p:pic>
        <p:nvPicPr>
          <p:cNvPr id="94" name="Google Shape;94;p14" title="AlexPseudocode.PNG"/>
          <p:cNvPicPr preferRelativeResize="0"/>
          <p:nvPr/>
        </p:nvPicPr>
        <p:blipFill>
          <a:blip r:embed="rId4">
            <a:alphaModFix/>
          </a:blip>
          <a:stretch>
            <a:fillRect/>
          </a:stretch>
        </p:blipFill>
        <p:spPr>
          <a:xfrm>
            <a:off x="5156175" y="595200"/>
            <a:ext cx="3365356" cy="4434851"/>
          </a:xfrm>
          <a:prstGeom prst="rect">
            <a:avLst/>
          </a:prstGeom>
          <a:noFill/>
          <a:ln>
            <a:noFill/>
          </a:ln>
        </p:spPr>
      </p:pic>
      <p:sp>
        <p:nvSpPr>
          <p:cNvPr id="95" name="Google Shape;95;p14"/>
          <p:cNvSpPr txBox="1"/>
          <p:nvPr/>
        </p:nvSpPr>
        <p:spPr>
          <a:xfrm>
            <a:off x="6161150" y="225900"/>
            <a:ext cx="2676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Roboto"/>
                <a:ea typeface="Roboto"/>
                <a:cs typeface="Roboto"/>
                <a:sym typeface="Roboto"/>
              </a:rPr>
              <a:t>By: Alex Berryhill</a:t>
            </a:r>
            <a:endParaRPr sz="1200">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type="title"/>
          </p:nvPr>
        </p:nvSpPr>
        <p:spPr>
          <a:xfrm>
            <a:off x="311700" y="788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Alex Berryhill (Continued)</a:t>
            </a:r>
            <a:endParaRPr/>
          </a:p>
        </p:txBody>
      </p:sp>
      <p:pic>
        <p:nvPicPr>
          <p:cNvPr id="101" name="Google Shape;101;p15" title="newplot (3).png"/>
          <p:cNvPicPr preferRelativeResize="0"/>
          <p:nvPr/>
        </p:nvPicPr>
        <p:blipFill>
          <a:blip r:embed="rId3">
            <a:alphaModFix/>
          </a:blip>
          <a:stretch>
            <a:fillRect/>
          </a:stretch>
        </p:blipFill>
        <p:spPr>
          <a:xfrm>
            <a:off x="152400" y="803925"/>
            <a:ext cx="8839201" cy="36259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type="title"/>
          </p:nvPr>
        </p:nvSpPr>
        <p:spPr>
          <a:xfrm>
            <a:off x="265075" y="2244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Alec Day: </a:t>
            </a:r>
            <a:r>
              <a:rPr lang="en"/>
              <a:t>The Effect of Unemployment on Sales</a:t>
            </a:r>
            <a:endParaRPr/>
          </a:p>
          <a:p>
            <a:pPr indent="0" lvl="0" marL="0" rtl="0" algn="l">
              <a:spcBef>
                <a:spcPts val="0"/>
              </a:spcBef>
              <a:spcAft>
                <a:spcPts val="0"/>
              </a:spcAft>
              <a:buNone/>
            </a:pPr>
            <a:r>
              <a:t/>
            </a:r>
            <a:endParaRPr/>
          </a:p>
        </p:txBody>
      </p:sp>
      <p:sp>
        <p:nvSpPr>
          <p:cNvPr id="107" name="Google Shape;107;p16"/>
          <p:cNvSpPr txBox="1"/>
          <p:nvPr>
            <p:ph idx="1" type="body"/>
          </p:nvPr>
        </p:nvSpPr>
        <p:spPr>
          <a:xfrm>
            <a:off x="265075" y="1473988"/>
            <a:ext cx="4039200" cy="26931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1018"/>
              <a:buNone/>
            </a:pPr>
            <a:r>
              <a:rPr lang="en" sz="1410"/>
              <a:t>I retrieved unemployment data at the census tract level from the U.S. Census API and aggregated it to find the median number of unemployed people per county. Using an API, I obtained county FIPS codes for each store based on their latitude and longitude, then joined the aggregated unemployment data with the stores dataframe on the FIPS code. Finally, I linked this enriched store data to the target dataset by store ID, ensuring that each store's weekly target data included relevant unemployment statistics.</a:t>
            </a:r>
            <a:endParaRPr sz="1410"/>
          </a:p>
        </p:txBody>
      </p:sp>
      <p:pic>
        <p:nvPicPr>
          <p:cNvPr id="108" name="Google Shape;108;p16" title="AlecPseudocode.PNG"/>
          <p:cNvPicPr preferRelativeResize="0"/>
          <p:nvPr/>
        </p:nvPicPr>
        <p:blipFill>
          <a:blip r:embed="rId3">
            <a:alphaModFix/>
          </a:blip>
          <a:stretch>
            <a:fillRect/>
          </a:stretch>
        </p:blipFill>
        <p:spPr>
          <a:xfrm>
            <a:off x="4724400" y="797175"/>
            <a:ext cx="4267200" cy="404672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7"/>
          <p:cNvSpPr txBox="1"/>
          <p:nvPr>
            <p:ph type="title"/>
          </p:nvPr>
        </p:nvSpPr>
        <p:spPr>
          <a:xfrm>
            <a:off x="311700" y="157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Alec Day (Continued)</a:t>
            </a:r>
            <a:endParaRPr/>
          </a:p>
        </p:txBody>
      </p:sp>
      <p:sp>
        <p:nvSpPr>
          <p:cNvPr id="114" name="Google Shape;114;p1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5" name="Google Shape;115;p17" title="AlecTable.PNG"/>
          <p:cNvPicPr preferRelativeResize="0"/>
          <p:nvPr/>
        </p:nvPicPr>
        <p:blipFill>
          <a:blip r:embed="rId3">
            <a:alphaModFix/>
          </a:blip>
          <a:stretch>
            <a:fillRect/>
          </a:stretch>
        </p:blipFill>
        <p:spPr>
          <a:xfrm>
            <a:off x="0" y="730243"/>
            <a:ext cx="9143998" cy="2131563"/>
          </a:xfrm>
          <a:prstGeom prst="rect">
            <a:avLst/>
          </a:prstGeom>
          <a:noFill/>
          <a:ln>
            <a:noFill/>
          </a:ln>
        </p:spPr>
      </p:pic>
      <p:pic>
        <p:nvPicPr>
          <p:cNvPr id="116" name="Google Shape;116;p17" title="AlecPlot.png"/>
          <p:cNvPicPr preferRelativeResize="0"/>
          <p:nvPr/>
        </p:nvPicPr>
        <p:blipFill>
          <a:blip r:embed="rId4">
            <a:alphaModFix/>
          </a:blip>
          <a:stretch>
            <a:fillRect/>
          </a:stretch>
        </p:blipFill>
        <p:spPr>
          <a:xfrm>
            <a:off x="0" y="2658709"/>
            <a:ext cx="9144001" cy="248478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8"/>
          <p:cNvSpPr txBox="1"/>
          <p:nvPr>
            <p:ph type="title"/>
          </p:nvPr>
        </p:nvSpPr>
        <p:spPr>
          <a:xfrm>
            <a:off x="311700" y="344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Jeremy Ruebush:</a:t>
            </a:r>
            <a:r>
              <a:rPr lang="en"/>
              <a:t> Item Similarity Scores</a:t>
            </a:r>
            <a:endParaRPr/>
          </a:p>
        </p:txBody>
      </p:sp>
      <p:sp>
        <p:nvSpPr>
          <p:cNvPr id="122" name="Google Shape;122;p18"/>
          <p:cNvSpPr txBox="1"/>
          <p:nvPr>
            <p:ph idx="1" type="body"/>
          </p:nvPr>
        </p:nvSpPr>
        <p:spPr>
          <a:xfrm>
            <a:off x="311700" y="1017725"/>
            <a:ext cx="426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t>The feature I created generates a similarity score for products sold in the previous week by analyzing past transaction sets and identifying similarities between products sold in the same transaction.</a:t>
            </a:r>
            <a:endParaRPr sz="1200"/>
          </a:p>
          <a:p>
            <a:pPr indent="0" lvl="0" marL="0" rtl="0" algn="l">
              <a:spcBef>
                <a:spcPts val="1200"/>
              </a:spcBef>
              <a:spcAft>
                <a:spcPts val="0"/>
              </a:spcAft>
              <a:buNone/>
            </a:pPr>
            <a:r>
              <a:rPr lang="en" sz="1200"/>
              <a:t>It calculates the correlation between products by determining the probability that two products appear in the same transaction, divided by the product of the probabilities that each product appears in a transaction individually: P(AUB)/(P(A)*P(B)). This results in a similarity score between 0 and 1 for each product pair.</a:t>
            </a:r>
            <a:endParaRPr sz="1200"/>
          </a:p>
          <a:p>
            <a:pPr indent="0" lvl="0" marL="0" rtl="0" algn="l">
              <a:spcBef>
                <a:spcPts val="1200"/>
              </a:spcBef>
              <a:spcAft>
                <a:spcPts val="1200"/>
              </a:spcAft>
              <a:buNone/>
            </a:pPr>
            <a:r>
              <a:rPr lang="en" sz="1200"/>
              <a:t>I then used these similarity scores, multiplied them by the quantities sold in the previous week, and summed the resulting values to obtain a single similarity value of products sold the previous week.</a:t>
            </a:r>
            <a:endParaRPr sz="1200"/>
          </a:p>
        </p:txBody>
      </p:sp>
      <p:pic>
        <p:nvPicPr>
          <p:cNvPr id="123" name="Google Shape;123;p18" title="JeremyPseudocode.PNG"/>
          <p:cNvPicPr preferRelativeResize="0"/>
          <p:nvPr/>
        </p:nvPicPr>
        <p:blipFill>
          <a:blip r:embed="rId3">
            <a:alphaModFix/>
          </a:blip>
          <a:stretch>
            <a:fillRect/>
          </a:stretch>
        </p:blipFill>
        <p:spPr>
          <a:xfrm>
            <a:off x="5256207" y="1017725"/>
            <a:ext cx="3576094" cy="39219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311700" y="142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Jeremy Ruebush (Continued)</a:t>
            </a:r>
            <a:endParaRPr/>
          </a:p>
        </p:txBody>
      </p:sp>
      <p:pic>
        <p:nvPicPr>
          <p:cNvPr id="129" name="Google Shape;129;p19" title="JeremyRuebush1.png"/>
          <p:cNvPicPr preferRelativeResize="0"/>
          <p:nvPr/>
        </p:nvPicPr>
        <p:blipFill>
          <a:blip r:embed="rId3">
            <a:alphaModFix/>
          </a:blip>
          <a:stretch>
            <a:fillRect/>
          </a:stretch>
        </p:blipFill>
        <p:spPr>
          <a:xfrm>
            <a:off x="152400" y="2811475"/>
            <a:ext cx="8839202" cy="2401957"/>
          </a:xfrm>
          <a:prstGeom prst="rect">
            <a:avLst/>
          </a:prstGeom>
          <a:noFill/>
          <a:ln>
            <a:noFill/>
          </a:ln>
        </p:spPr>
      </p:pic>
      <p:pic>
        <p:nvPicPr>
          <p:cNvPr id="130" name="Google Shape;130;p19" title="JeremyTable.PNG"/>
          <p:cNvPicPr preferRelativeResize="0"/>
          <p:nvPr/>
        </p:nvPicPr>
        <p:blipFill>
          <a:blip r:embed="rId4">
            <a:alphaModFix/>
          </a:blip>
          <a:stretch>
            <a:fillRect/>
          </a:stretch>
        </p:blipFill>
        <p:spPr>
          <a:xfrm>
            <a:off x="311700" y="652575"/>
            <a:ext cx="8520599" cy="22406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Combined Table</a:t>
            </a:r>
            <a:endParaRPr/>
          </a:p>
        </p:txBody>
      </p:sp>
      <p:pic>
        <p:nvPicPr>
          <p:cNvPr id="136" name="Google Shape;136;p20" title="complexFeature.png"/>
          <p:cNvPicPr preferRelativeResize="0"/>
          <p:nvPr/>
        </p:nvPicPr>
        <p:blipFill>
          <a:blip r:embed="rId3">
            <a:alphaModFix/>
          </a:blip>
          <a:stretch>
            <a:fillRect/>
          </a:stretch>
        </p:blipFill>
        <p:spPr>
          <a:xfrm>
            <a:off x="152400" y="1170200"/>
            <a:ext cx="8679900" cy="22307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2" name="Google Shape;142;p21"/>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3" name="Google Shape;143;p21" title="combined_df.png"/>
          <p:cNvPicPr preferRelativeResize="0"/>
          <p:nvPr/>
        </p:nvPicPr>
        <p:blipFill rotWithShape="1">
          <a:blip r:embed="rId3">
            <a:alphaModFix/>
          </a:blip>
          <a:srcRect b="19713" l="0" r="2619" t="7569"/>
          <a:stretch/>
        </p:blipFill>
        <p:spPr>
          <a:xfrm>
            <a:off x="0" y="1669725"/>
            <a:ext cx="9143999" cy="15875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